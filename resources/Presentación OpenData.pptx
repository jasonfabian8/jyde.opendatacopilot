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C4989-6F8C-49C0-9244-E0E5933B8695}" v="119" dt="2026-07-11T20:24:42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4480560"/>
            <a:ext cx="3291840" cy="329184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685800"/>
            <a:ext cx="34290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1E40AF"/>
                </a:solidFill>
                <a:latin typeface="Segoe UI"/>
              </a:rPr>
              <a:t>DATOS AL ECOSISTEMA 2026 · MINTIC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6858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ID 241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6858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Segoe UI"/>
              </a:rPr>
              <a:t>NIVEL AVANZADO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0F172A"/>
                </a:solidFill>
                <a:latin typeface="Segoe UI Semibold"/>
              </a:rPr>
              <a:t>OpenData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2563EB"/>
                </a:solidFill>
                <a:latin typeface="Segoe UI Light"/>
              </a:rPr>
              <a:t>Pregúntale a los datos abiertos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0672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“Los datos abiertos solo generan valor cuando las personas
pueden entenderlos y utilizarlos.”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703320" cy="251460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0" y="233172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66176" y="233172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85632" y="2331720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2615184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onsolas"/>
              </a:rPr>
              <a:t>› 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¿Qué municipios tienen mayor desempleo?</a:t>
            </a:r>
          </a:p>
          <a:p>
            <a:pPr algn="l"/>
            <a:endParaRPr sz="1100" b="0" i="0">
              <a:solidFill>
                <a:srgbClr val="FFFFFF"/>
              </a:solidFill>
              <a:latin typeface="Segoe UI"/>
            </a:endParaRPr>
          </a:p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⚙ consulta SoQL sobre datos.gov.co…</a:t>
            </a:r>
          </a:p>
          <a:p>
            <a:pPr algn="l"/>
            <a:endParaRPr sz="1000" b="0" i="0">
              <a:solidFill>
                <a:srgbClr val="94A3B8"/>
              </a:solidFill>
              <a:latin typeface="Segoe UI"/>
            </a:endParaRPr>
          </a:p>
          <a:p>
            <a:pPr algn="l"/>
            <a:r>
              <a:rPr sz="1050" b="0" i="0">
                <a:solidFill>
                  <a:srgbClr val="E2E8F0"/>
                </a:solidFill>
                <a:latin typeface="Segoe UI"/>
              </a:rPr>
              <a:t>Los 5 municipios con mayor índice son… </a:t>
            </a:r>
          </a:p>
          <a:p>
            <a:pPr algn="l"/>
            <a:endParaRPr sz="1050" b="0" i="0">
              <a:solidFill>
                <a:srgbClr val="E2E8F0"/>
              </a:solidFill>
              <a:latin typeface="Segoe UI"/>
            </a:endParaRPr>
          </a:p>
          <a:p>
            <a:pPr algn="l"/>
            <a:r>
              <a:rPr sz="1000" b="1" i="0">
                <a:solidFill>
                  <a:srgbClr val="60A5FA"/>
                </a:solidFill>
                <a:latin typeface="Segoe UI"/>
              </a:rPr>
              <a:t>📎 Fuente: DANE — datos.gov.co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177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EQUIPO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56048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2104" y="5138928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>
                <a:solidFill>
                  <a:srgbClr val="1E40AF"/>
                </a:solidFill>
                <a:latin typeface="Segoe UI Semibold"/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29200"/>
            <a:ext cx="152704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 Semibold"/>
              </a:rPr>
              <a:t>Yehison Fabian Becerra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4956048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392424" y="5138928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>
                <a:solidFill>
                  <a:srgbClr val="1E40AF"/>
                </a:solidFill>
                <a:latin typeface="Segoe UI Semibold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029200"/>
            <a:ext cx="152704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 Semibold"/>
              </a:rPr>
              <a:t>Edwin Giovanni Villamizar Aldana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4956048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52744" y="5138928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>
                <a:solidFill>
                  <a:srgbClr val="1E40AF"/>
                </a:solidFill>
                <a:latin typeface="Segoe UI Semibold"/>
              </a:rPr>
              <a:t>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29200"/>
            <a:ext cx="152704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 Semibold"/>
              </a:rPr>
              <a:t>Yenny Alarcon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4956048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13064" y="5138928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>
                <a:solidFill>
                  <a:srgbClr val="1E40AF"/>
                </a:solidFill>
                <a:latin typeface="Segoe UI Semibold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029200"/>
            <a:ext cx="152704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 Semibold"/>
              </a:rPr>
              <a:t>Helen Daniela Benitez Hipolito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72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Asistente de IA conversacional sobre los 8.000+ datasets de datos.gov.co — cada respuesta cita su fuente.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Segoe UI"/>
              </a:rPr>
              <a:t>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Miles de datos públicos que casi nadie puede usar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42900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62763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D97706"/>
                </a:solidFill>
                <a:latin typeface="Segoe UI Emoji"/>
              </a:rPr>
              <a:t>🗂️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30998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8.000+ datasets publicados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datos.gov.co concentra salud, educación, seguridad, economía y ambiente.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81328"/>
            <a:ext cx="342900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0832" y="162763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D97706"/>
                </a:solidFill>
                <a:latin typeface="Segoe UI Emoj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139696"/>
            <a:ext cx="30998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Barrera técnica real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Encontrar el dataset correcto exige conocer portales, CSV, APIs y SoQL.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481328"/>
            <a:ext cx="342900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36992" y="162763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D97706"/>
                </a:solidFill>
                <a:latin typeface="Segoe UI Emoj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139696"/>
            <a:ext cx="30998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Valor público dormido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La información existe, pero no llega a quien decide ni a quien pregunta.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3580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¿A QUIÉNES AFECTA Y POR QUÉ?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64992"/>
            <a:ext cx="2002536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 Emoji"/>
              </a:rPr>
              <a:t>👥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Ciudadanos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85615"/>
            <a:ext cx="17282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Deciden a diario sin poder verificar la información pública.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9776" y="3364992"/>
            <a:ext cx="2002536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16936" y="347472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 Emoji"/>
              </a:rPr>
              <a:t>📰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Periodistas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6936" y="3785615"/>
            <a:ext cx="17282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Verificar una cifra les toma días entre portales y CSV.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9472" y="3364992"/>
            <a:ext cx="2002536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56632" y="347472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 Emoji"/>
              </a:rPr>
              <a:t>🎓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Investigadores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3785615"/>
            <a:ext cx="17282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Gastan el tiempo buscando y limpiando datos, no analizándolos.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9168" y="3364992"/>
            <a:ext cx="2002536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96328" y="347472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 Emoji"/>
              </a:rPr>
              <a:t>🚀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Emprendedores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3785615"/>
            <a:ext cx="17282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Sin datos usables no detectan oportunidades ni mercados.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98864" y="3364992"/>
            <a:ext cx="2002536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36024" y="3474720"/>
            <a:ext cx="17282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 Emoji"/>
              </a:rPr>
              <a:t>🏛️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Entidades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3785615"/>
            <a:ext cx="17282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Publican datos que nadie usa: transparencia sin retorno.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92040"/>
            <a:ext cx="10561320" cy="137160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074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047488"/>
            <a:ext cx="9144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BEAFE"/>
                </a:solidFill>
                <a:latin typeface="Segoe UI"/>
              </a:rPr>
              <a:t>OBJETIVO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Segoe UI Semibold"/>
              </a:rPr>
              <a:t>Que cualquier persona consulte los datos abiertos con una pregunta en lenguaje natural</a:t>
            </a:r>
          </a:p>
          <a:p>
            <a:pPr algn="l"/>
            <a:r>
              <a:rPr sz="1300" b="0" i="0">
                <a:solidFill>
                  <a:srgbClr val="DBEAFE"/>
                </a:solidFill>
                <a:latin typeface="Segoe UI"/>
              </a:rPr>
              <a:t>y reciba una respuesta clara, verificable y siempre citando su fuente.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Segoe UI"/>
              </a:rPr>
              <a:t>DATOS ABIERTOS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datos.gov.co como única fuente, vía API oficial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FLUJO DE 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datos.gov.co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8.000+ datasets
públicos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15184" y="2377440"/>
            <a:ext cx="292608" cy="201168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80" y="187451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API Socrata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Catálogo +
SoQL (sin scraping)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01184" y="2377440"/>
            <a:ext cx="292608" cy="201168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12080" y="187451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Ingesta de metadatos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nombre, columnas,
categoría, fuente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87184" y="2377440"/>
            <a:ext cx="292608" cy="201168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98080" y="187451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Embeddings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vectorización
semántica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73184" y="2377440"/>
            <a:ext cx="292608" cy="201168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84080" y="1874519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Índice híbrido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Atlas Vector Search
vector + keyword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342900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2" y="366674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059669"/>
                </a:solidFill>
                <a:latin typeface="Segoe UI Emoji"/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78808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Solo API oficial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Cero web scraping (ADR-0002): datos trazables y términos de uso respetados.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520440"/>
            <a:ext cx="342900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70832" y="366674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059669"/>
                </a:solidFill>
                <a:latin typeface="Segoe UI Emoj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4178808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Estrategia híbrida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Metadatos amplios de todo el catálogo + cache selectivo de los datasets más usados.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520440"/>
            <a:ext cx="342900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36992" y="366674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059669"/>
                </a:solidFill>
                <a:latin typeface="Segoe UI Emoji"/>
              </a:rPr>
              <a:t>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4178808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Calidad y trazabilidad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Cada respuesta enlaza al dataset original; sin fuente no hay respuesta.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10561320" cy="86868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50" b="1">
                <a:solidFill>
                  <a:srgbClr val="0F172A"/>
                </a:solidFill>
                <a:latin typeface="Segoe UI"/>
              </a:rPr>
              <a:t>Los datos nunca se copian a ciegas: </a:t>
            </a:r>
            <a:r>
              <a:rPr sz="1350" b="0">
                <a:solidFill>
                  <a:srgbClr val="64748B"/>
                </a:solidFill>
                <a:latin typeface="Segoe UI"/>
              </a:rPr>
              <a:t>se consultan en vivo con SoQL sobre la fuente oficial y se citan en la respuesta.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SOLUCIÓN CON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Copilot multiagente con RAG y respuestas citadas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ARQUITECTURA DE INFERENCIA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👤 Usuario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pregunta en
lenguaje natural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95728" y="228600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920240" cy="11430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Copilot
Orquestador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enruta por intención
(IAgentRouter)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27448" y="228600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74920" y="1536192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F172A"/>
                </a:solidFill>
                <a:latin typeface="Segoe UI Semibold"/>
              </a:rPr>
              <a:t>DatasetRecommenderAgent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descubre y recomienda datasets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450592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F172A"/>
                </a:solidFill>
                <a:latin typeface="Segoe UI Semibold"/>
              </a:rPr>
              <a:t>Agente de cifras (SoQL)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consulta datos en vivo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24927" y="228600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0" y="182880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RAG + LLM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búsqueda híbrida +
GPT-4.1-mini (Foundry)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65208" y="228600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12680" y="182880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Respuesta
citada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streaming SSE
en tiempo 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2587752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57530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2563EB"/>
                </a:solidFill>
                <a:latin typeface="Segoe UI Emoji"/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87368"/>
            <a:ext cx="225856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IA generativa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GPT-4.1-mini vía Azure AI Foundry: calidad alta, costo mínimo.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4992" y="3429000"/>
            <a:ext cx="2587752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529584" y="357530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2563EB"/>
                </a:solidFill>
                <a:latin typeface="Segoe UI Emoji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4087368"/>
            <a:ext cx="225856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Multiagente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Agentes especializados: menos error, menos tokens, extensible.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3429000"/>
            <a:ext cx="2587752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54496" y="357530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2563EB"/>
                </a:solidFill>
                <a:latin typeface="Segoe UI Emoji"/>
              </a:rPr>
              <a:t>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4087368"/>
            <a:ext cx="225856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RAG sobre metadatos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El LLM responde sólo con datasets recuperados del índice.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14816" y="3429000"/>
            <a:ext cx="2587752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79408" y="357530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2563EB"/>
                </a:solidFill>
                <a:latin typeface="Segoe UI Emoji"/>
              </a:rP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4087368"/>
            <a:ext cx="225856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Guardrails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Si los datos no sustentan la respuesta, lo declara. Nunca inventa cifras.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57800"/>
            <a:ext cx="10561320" cy="8686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Un buscador tradicional entrega archivos. </a:t>
            </a:r>
            <a:r>
              <a:rPr sz="1400" b="1">
                <a:solidFill>
                  <a:srgbClr val="93C5FD"/>
                </a:solidFill>
                <a:latin typeface="Segoe UI"/>
              </a:rPr>
              <a:t>OpenData Copilot entrega respuestas con evidencia.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ARQUITECTURA AGÉNTICA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Seis agentes de IA que colaboran, no un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Segoe UI"/>
              </a:rPr>
              <a:t>1 · PREGUNTA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144475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Segoe UI"/>
              </a:rPr>
              <a:t>2 · ORQUESTACIÓN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144475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Segoe UI"/>
              </a:rPr>
              <a:t>3 · CONTEXTO (RAG)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3456" y="144475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Segoe UI"/>
              </a:rPr>
              <a:t>4 · RESPUESTA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3291840"/>
            <a:ext cx="237744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199632" y="3291840"/>
            <a:ext cx="237744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9107424" y="3291840"/>
            <a:ext cx="237744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783080"/>
            <a:ext cx="2633472" cy="960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👤 Ciudadano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pregunta en lenguaje natural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828800" y="2798064"/>
            <a:ext cx="201168" cy="27432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2633472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 Semibold"/>
              </a:rPr>
              <a:t>🧠 Agente de objetivo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memoria: resume el propósito
y acompaña cada turno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26334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Entrega: </a:t>
            </a:r>
            <a:r>
              <a:rPr sz="950" b="0" i="0">
                <a:solidFill>
                  <a:srgbClr val="64748B"/>
                </a:solidFill>
                <a:latin typeface="Segoe UI"/>
              </a:rPr>
              <a:t>la pregunta +
el objetivo acumulado.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1783080"/>
            <a:ext cx="2633472" cy="8686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🧭 Copilot Orquestador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agente enrutador: clasifica la
intención y delega en el experto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2788920"/>
            <a:ext cx="2633472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8" y="285292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 Emoji"/>
              </a:rPr>
              <a:t>📂 </a:t>
            </a:r>
            <a:r>
              <a:rPr sz="1050" b="1" i="0">
                <a:solidFill>
                  <a:srgbClr val="0F172A"/>
                </a:solidFill>
                <a:latin typeface="Segoe UI Semibold"/>
              </a:rPr>
              <a:t>Categorías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qué cargar del catálogo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3502152"/>
            <a:ext cx="2633472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75888" y="3566160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 Emoji"/>
              </a:rPr>
              <a:t>🔎 </a:t>
            </a:r>
            <a:r>
              <a:rPr sz="1050" b="1" i="0">
                <a:solidFill>
                  <a:srgbClr val="0F172A"/>
                </a:solidFill>
                <a:latin typeface="Segoe UI Semibold"/>
              </a:rPr>
              <a:t>Recomendador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qué datasets responden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7872" y="4215384"/>
            <a:ext cx="2633472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75888" y="4279392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 Emoji"/>
              </a:rPr>
              <a:t>🧬 </a:t>
            </a:r>
            <a:r>
              <a:rPr sz="1050" b="1" i="0">
                <a:solidFill>
                  <a:srgbClr val="0F172A"/>
                </a:solidFill>
                <a:latin typeface="Segoe UI Semibold"/>
              </a:rPr>
              <a:t>Analista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columnas y cruces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7872" y="4928616"/>
            <a:ext cx="2633472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75888" y="4992624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 Emoji"/>
              </a:rPr>
              <a:t>📊 </a:t>
            </a:r>
            <a:r>
              <a:rPr sz="1050" b="1" i="0">
                <a:solidFill>
                  <a:srgbClr val="0F172A"/>
                </a:solidFill>
                <a:latin typeface="Segoe UI Semibold"/>
              </a:rPr>
              <a:t>Cifras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números reales vía SoQL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5687568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Entrega: </a:t>
            </a:r>
            <a:r>
              <a:rPr sz="950" b="0" i="0">
                <a:solidFill>
                  <a:srgbClr val="64748B"/>
                </a:solidFill>
                <a:latin typeface="Segoe UI"/>
              </a:rPr>
              <a:t>la tarea al agente experto.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1783080"/>
            <a:ext cx="2633472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 Semibold"/>
              </a:rPr>
              <a:t>Embedding de la pregunta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vector semántico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671816" y="2606040"/>
            <a:ext cx="201168" cy="201168"/>
          </a:xfrm>
          <a:prstGeom prst="down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55664" y="2825495"/>
            <a:ext cx="2633472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 Semibold"/>
              </a:rPr>
              <a:t>Índice vectorial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metadatos de 8.000+ datasets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7671816" y="3648455"/>
            <a:ext cx="201168" cy="201168"/>
          </a:xfrm>
          <a:prstGeom prst="down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55664" y="3867910"/>
            <a:ext cx="2633472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 Semibold"/>
              </a:rPr>
              <a:t>Top-k datasets relevantes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el contexto que recibe la 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55664" y="4937760"/>
            <a:ext cx="2633472" cy="54864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59669"/>
                </a:solidFill>
                <a:latin typeface="Segoe UI"/>
              </a:rPr>
              <a:t>🌐 datos.gov.co en vivo (SoQL)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5687568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Segoe UI"/>
              </a:rPr>
              <a:t>Entrega: </a:t>
            </a:r>
            <a:r>
              <a:rPr sz="950" b="0" i="0">
                <a:solidFill>
                  <a:srgbClr val="64748B"/>
                </a:solidFill>
                <a:latin typeface="Segoe UI"/>
              </a:rPr>
              <a:t>pregunta + datasets como contexto.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63456" y="1783080"/>
            <a:ext cx="2633472" cy="9144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✨ GPT-4.1-mini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razona con pregunta + contexto
(Azure AI Foundry)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10579608" y="2752344"/>
            <a:ext cx="201168" cy="237744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363456" y="3044952"/>
            <a:ext cx="2633472" cy="9144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 Semibold"/>
              </a:rPr>
              <a:t>📎 Respuesta citada</a:t>
            </a:r>
          </a:p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fuentes + tablas + gráficas
streaming SSE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63456" y="4160520"/>
            <a:ext cx="2633472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🛡️ Sin fuente no hay respuesta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6172200"/>
            <a:ext cx="10561320" cy="50292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>
                <a:solidFill>
                  <a:srgbClr val="93C5FD"/>
                </a:solidFill>
                <a:latin typeface="Segoe UI"/>
              </a:rPr>
              <a:t>6 agentes · </a:t>
            </a:r>
            <a:r>
              <a:rPr sz="1200" b="0">
                <a:solidFill>
                  <a:srgbClr val="FFFFFF"/>
                </a:solidFill>
                <a:latin typeface="Segoe UI"/>
              </a:rPr>
              <a:t>enrutador, objetivo, categorías, recomendador, analista y cifras — </a:t>
            </a:r>
            <a:r>
              <a:rPr sz="1200" b="1">
                <a:solidFill>
                  <a:srgbClr val="FFFFFF"/>
                </a:solidFill>
                <a:latin typeface="Segoe UI"/>
              </a:rPr>
              <a:t>recuperan (RAG), razonan (IA) y responden con evidencia.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Segoe UI"/>
              </a:rPr>
              <a:t>GOBIERNO DE IA ·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IA segura, observable, versionada y lista para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6384" y="17556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0">
                <a:solidFill>
                  <a:srgbClr val="2563EB"/>
                </a:solidFill>
                <a:latin typeface="Segoe UI Emoji"/>
              </a:rPr>
              <a:t>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591056"/>
            <a:ext cx="2514600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Observabilidad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solicitudes, trazas de conversación y métricas por agente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81328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52544" y="17556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0">
                <a:solidFill>
                  <a:srgbClr val="059669"/>
                </a:solidFill>
                <a:latin typeface="Segoe UI Emoji"/>
              </a:rP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591056"/>
            <a:ext cx="2514600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Guardrails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valida entrada y salida; anti-alucinación: sin fuente no hay respuesta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481328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18704" y="17556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0">
                <a:solidFill>
                  <a:srgbClr val="D97706"/>
                </a:solidFill>
                <a:latin typeface="Segoe UI Emoji"/>
              </a:rPr>
              <a:t>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1591056"/>
            <a:ext cx="2514600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Rate limiting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control de solicitudes: protege recursos y costos del modelo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90088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6384" y="32644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0">
                <a:solidFill>
                  <a:srgbClr val="2563EB"/>
                </a:solidFill>
                <a:latin typeface="Segoe UI Emoji"/>
              </a:rPr>
              <a:t>🏷️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099816"/>
            <a:ext cx="2514600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Versionamiento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prompts, modelos, agentes y configuración versionados en Azure AI Foundry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990088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52544" y="32644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0">
                <a:solidFill>
                  <a:srgbClr val="059669"/>
                </a:solidFill>
                <a:latin typeface="Segoe UI Emoji"/>
              </a:rPr>
              <a:t>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099816"/>
            <a:ext cx="2514600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Auditoría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cada interacción queda registrada: trazabilidad y cumplimiento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990088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18704" y="32644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0">
                <a:solidFill>
                  <a:srgbClr val="D97706"/>
                </a:solidFill>
                <a:latin typeface="Segoe UI Emoji"/>
              </a:rPr>
              <a:t>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3099816"/>
            <a:ext cx="2514600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Mejora continua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las conversaciones refinan prompts, agentes y base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817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Segoe UI"/>
              </a:rPr>
              <a:t>FEEDBACK LOOP — EL SISTEMA APRENDE CON EL USO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10912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F172A"/>
                </a:solidFill>
                <a:latin typeface="Segoe UI Semibold"/>
              </a:rPr>
              <a:t>Uso real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ciudadanos
preguntan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60320" y="5358384"/>
            <a:ext cx="237744" cy="164592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798064" y="5010912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F172A"/>
                </a:solidFill>
                <a:latin typeface="Segoe UI Semibold"/>
              </a:rPr>
              <a:t>Observar y auditar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trazas +
registro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18304" y="5358384"/>
            <a:ext cx="237744" cy="164592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956048" y="5010912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F172A"/>
                </a:solidFill>
                <a:latin typeface="Segoe UI Semibold"/>
              </a:rPr>
              <a:t>Analizar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oportunidades
de mejora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876288" y="5358384"/>
            <a:ext cx="237744" cy="164592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14032" y="5010912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F172A"/>
                </a:solidFill>
                <a:latin typeface="Segoe UI Semibold"/>
              </a:rPr>
              <a:t>Refinar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prompts, agentes
y base RAG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034272" y="5358384"/>
            <a:ext cx="237744" cy="164592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72016" y="5010912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050" b="1">
                <a:solidFill>
                  <a:srgbClr val="0F172A"/>
                </a:solidFill>
                <a:latin typeface="Segoe UI Semibold"/>
              </a:rPr>
              <a:t>Nueva versión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publicada en
Azure AI Foundry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00200" y="5998464"/>
            <a:ext cx="8686800" cy="25603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600200" y="5897880"/>
            <a:ext cx="25603" cy="11887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259568" y="5897880"/>
            <a:ext cx="25603" cy="11887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Left Arrow 37"/>
          <p:cNvSpPr/>
          <p:nvPr/>
        </p:nvSpPr>
        <p:spPr>
          <a:xfrm>
            <a:off x="5779008" y="5909420"/>
            <a:ext cx="274320" cy="182880"/>
          </a:xfrm>
          <a:prstGeom prst="lef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0" y="6207473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1">
                <a:solidFill>
                  <a:srgbClr val="1E40AF"/>
                </a:solidFill>
                <a:latin typeface="Segoe UI"/>
              </a:rPr>
              <a:t>↻ ciclo iterativo de retroalimentación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RESULTADOS 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El prototipo ya funciona: esto es lo que validamos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5852160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8" name="Picture 7" descr="landin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614416" cy="36717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5138928"/>
            <a:ext cx="5852160" cy="4572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Segoe UI"/>
              </a:rPr>
              <a:t>▶ DEMO EN VIVO:  </a:t>
            </a:r>
            <a:r>
              <a:rPr sz="1100" b="0">
                <a:solidFill>
                  <a:srgbClr val="0F172A"/>
                </a:solidFill>
                <a:latin typeface="Segoe UI"/>
              </a:rPr>
              <a:t>pregunta → consulta SoQL → respuesta con fuente citada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36192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VALIDACIONES COMPLETADAS</a:t>
            </a:r>
          </a:p>
        </p:txBody>
      </p:sp>
      <p:sp>
        <p:nvSpPr>
          <p:cNvPr id="11" name="Oval 10"/>
          <p:cNvSpPr/>
          <p:nvPr/>
        </p:nvSpPr>
        <p:spPr>
          <a:xfrm>
            <a:off x="6720840" y="1956816"/>
            <a:ext cx="384048" cy="384048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>
                <a:solidFill>
                  <a:srgbClr val="059669"/>
                </a:solidFill>
                <a:latin typeface="Segoe UI"/>
              </a:rPr>
              <a:t>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94576" y="2359152"/>
            <a:ext cx="32004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1901952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 Semibold"/>
              </a:rPr>
              <a:t>Ingesta real del catálogo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metadatos leídos desde la API Socrata de datos.gov.co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2852928"/>
            <a:ext cx="384048" cy="384048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>
                <a:solidFill>
                  <a:srgbClr val="059669"/>
                </a:solidFill>
                <a:latin typeface="Segoe UI"/>
              </a:rPr>
              <a:t>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94576" y="3255264"/>
            <a:ext cx="32004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80" y="2798064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 Semibold"/>
              </a:rPr>
              <a:t>Búsqueda semántica operativa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embeddings + índice híbrido en Atlas Vector Search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3749040"/>
            <a:ext cx="384048" cy="384048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>
                <a:solidFill>
                  <a:srgbClr val="059669"/>
                </a:solidFill>
                <a:latin typeface="Segoe UI"/>
              </a:rPr>
              <a:t>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94576" y="4151376"/>
            <a:ext cx="32004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3694176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 Semibold"/>
              </a:rPr>
              <a:t>El chat responde citando la fuente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multiagente + streaming SSE de extremo a extremo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4645152"/>
            <a:ext cx="384048" cy="384048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>
                <a:solidFill>
                  <a:srgbClr val="059669"/>
                </a:solidFill>
                <a:latin typeface="Segoe UI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590288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 Semibold"/>
              </a:rPr>
              <a:t>Calidad verificada en CI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build y umbral de cobertura bloquean cualquier regresión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561320" cy="566928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2563EB"/>
                </a:solidFill>
                <a:latin typeface="Segoe UI Semibold"/>
              </a:rPr>
              <a:t>121</a:t>
            </a:r>
            <a:r>
              <a:rPr sz="1150" b="0">
                <a:solidFill>
                  <a:srgbClr val="64748B"/>
                </a:solidFill>
                <a:latin typeface="Segoe UI"/>
              </a:rPr>
              <a:t> tests      </a:t>
            </a:r>
            <a:r>
              <a:rPr sz="1500" b="1">
                <a:solidFill>
                  <a:srgbClr val="059669"/>
                </a:solidFill>
                <a:latin typeface="Segoe UI Semibold"/>
              </a:rPr>
              <a:t>≥95%</a:t>
            </a:r>
            <a:r>
              <a:rPr sz="1150" b="0">
                <a:solidFill>
                  <a:srgbClr val="64748B"/>
                </a:solidFill>
                <a:latin typeface="Segoe UI"/>
              </a:rPr>
              <a:t> cobertura      </a:t>
            </a:r>
            <a:r>
              <a:rPr sz="1500" b="1">
                <a:solidFill>
                  <a:srgbClr val="D97706"/>
                </a:solidFill>
                <a:latin typeface="Segoe UI Semibold"/>
              </a:rPr>
              <a:t>16</a:t>
            </a:r>
            <a:r>
              <a:rPr sz="1150" b="0">
                <a:solidFill>
                  <a:srgbClr val="64748B"/>
                </a:solidFill>
                <a:latin typeface="Segoe UI"/>
              </a:rPr>
              <a:t> ADRs      </a:t>
            </a:r>
            <a:r>
              <a:rPr sz="1500" b="1">
                <a:solidFill>
                  <a:srgbClr val="2563EB"/>
                </a:solidFill>
                <a:latin typeface="Segoe UI Semibold"/>
              </a:rPr>
              <a:t>4</a:t>
            </a:r>
            <a:r>
              <a:rPr sz="1150" b="0">
                <a:solidFill>
                  <a:srgbClr val="64748B"/>
                </a:solidFill>
                <a:latin typeface="Segoe UI"/>
              </a:rPr>
              <a:t> bounded contexts      </a:t>
            </a:r>
            <a:r>
              <a:rPr sz="1500" b="1">
                <a:solidFill>
                  <a:srgbClr val="059669"/>
                </a:solidFill>
                <a:latin typeface="Segoe UI Semibold"/>
              </a:rPr>
              <a:t>Bajo costo</a:t>
            </a:r>
            <a:r>
              <a:rPr sz="1150" b="0">
                <a:solidFill>
                  <a:srgbClr val="64748B"/>
                </a:solidFill>
                <a:latin typeface="Segoe UI"/>
              </a:rPr>
              <a:t> capas gratuitas y modelos económicos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Segoe UI"/>
              </a:rPr>
              <a:t>IMPACTO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Del dato abierto a la decisión informada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587752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70078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059669"/>
                </a:solidFill>
                <a:latin typeface="Segoe UI Emoj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22585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Ciudadanía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50M+ colombianos pueden preguntar sin saber de 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54480"/>
            <a:ext cx="2587752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9584" y="170078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059669"/>
                </a:solidFill>
                <a:latin typeface="Segoe UI Emoji"/>
              </a:rPr>
              <a:t>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212848"/>
            <a:ext cx="22585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Periodismo e investigación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Evidencia verificable y citada en segundos.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554480"/>
            <a:ext cx="2587752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54496" y="170078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059669"/>
                </a:solidFill>
                <a:latin typeface="Segoe UI Emoji"/>
              </a:rPr>
              <a:t>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212848"/>
            <a:ext cx="22585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Entidades públicas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Sus datos por fin se usan: transparencia con retorno.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4816" y="1554480"/>
            <a:ext cx="2587752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79408" y="170078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059669"/>
                </a:solidFill>
                <a:latin typeface="Segoe UI Emoji"/>
              </a:rPr>
              <a:t>🗺️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212848"/>
            <a:ext cx="22585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Territorio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32 departamentos y 1.100+ municipios con datos consultables.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DECISIONES QUE HABILITA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58768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50" b="0">
                <a:solidFill>
                  <a:srgbClr val="0F172A"/>
                </a:solidFill>
                <a:latin typeface="Segoe UI"/>
              </a:rPr>
              <a:t>💊 Salud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21992" y="385876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50" b="0">
                <a:solidFill>
                  <a:srgbClr val="0F172A"/>
                </a:solidFill>
                <a:latin typeface="Segoe UI"/>
              </a:rPr>
              <a:t>🎓 Educación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78224" y="3858768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50" b="0">
                <a:solidFill>
                  <a:srgbClr val="0F172A"/>
                </a:solidFill>
                <a:latin typeface="Segoe UI"/>
              </a:rPr>
              <a:t>🚔 Seguridad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34456" y="385876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50" b="0">
                <a:solidFill>
                  <a:srgbClr val="0F172A"/>
                </a:solidFill>
                <a:latin typeface="Segoe UI"/>
              </a:rPr>
              <a:t>💰 Presupuesto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7848" y="3858768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50" b="0">
                <a:solidFill>
                  <a:srgbClr val="0F172A"/>
                </a:solidFill>
                <a:latin typeface="Segoe UI"/>
              </a:rPr>
              <a:t>🌱 Ambiente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858768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50" b="0">
                <a:solidFill>
                  <a:srgbClr val="0F172A"/>
                </a:solidFill>
                <a:latin typeface="Segoe UI"/>
              </a:rPr>
              <a:t>📶 Conectividad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17720"/>
            <a:ext cx="516636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4663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📈 Escalabilidad</a:t>
            </a:r>
          </a:p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Backend stateless + servicios gestionados de Azure.</a:t>
            </a:r>
          </a:p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Nueva capacidad = nuevo agente, sin reescribir el núcleo.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4617720"/>
            <a:ext cx="516636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4800600"/>
            <a:ext cx="4663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♻️ Sostenibilidad</a:t>
            </a:r>
          </a:p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Bajo costo: modelos económicos y capas gratuitas.</a:t>
            </a:r>
          </a:p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Proveedores intercambiables por configuración: sin lock-in.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REPOSITORIO Y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Ingeniería sólida detrás de una idea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E40AF"/>
                </a:solidFill>
                <a:latin typeface="Segoe UI Semibold"/>
              </a:rPr>
              <a:t>Api</a:t>
            </a:r>
          </a:p>
          <a:p>
            <a:pPr algn="ctr"/>
            <a:r>
              <a:rPr sz="800" b="0" i="0">
                <a:solidFill>
                  <a:srgbClr val="1E40AF"/>
                </a:solidFill>
                <a:latin typeface="Segoe UI"/>
              </a:rPr>
              <a:t>controladores MVC · composición 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011680"/>
            <a:ext cx="4572000" cy="228600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3730A3"/>
                </a:solidFill>
                <a:latin typeface="Segoe UI Semibold"/>
              </a:rPr>
              <a:t>Infrastructure</a:t>
            </a:r>
          </a:p>
          <a:p>
            <a:pPr algn="ctr"/>
            <a:r>
              <a:rPr sz="800" b="0" i="0">
                <a:solidFill>
                  <a:srgbClr val="3730A3"/>
                </a:solidFill>
                <a:latin typeface="Segoe UI"/>
              </a:rPr>
              <a:t>adaptadores: Socrata · Foundry · Mongo Atlas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37744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242316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059669"/>
                </a:solidFill>
                <a:latin typeface="Segoe UI Semibold"/>
              </a:rPr>
              <a:t>Application</a:t>
            </a:r>
          </a:p>
          <a:p>
            <a:pPr algn="ctr"/>
            <a:r>
              <a:rPr sz="800" b="0" i="0">
                <a:solidFill>
                  <a:srgbClr val="059669"/>
                </a:solidFill>
                <a:latin typeface="Segoe UI"/>
              </a:rPr>
              <a:t>casos de uso · puertos (interfaces)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20" y="2743200"/>
            <a:ext cx="29260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74520" y="27889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 Semibold"/>
              </a:rPr>
              <a:t>Domain</a:t>
            </a:r>
          </a:p>
          <a:p>
            <a:pPr algn="ctr"/>
            <a:r>
              <a:rPr sz="800" b="0" i="0">
                <a:solidFill>
                  <a:srgbClr val="0F172A"/>
                </a:solidFill>
                <a:latin typeface="Segoe UI"/>
              </a:rPr>
              <a:t>reglas de negocio puras · 0 dependencias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4748B"/>
                </a:solidFill>
                <a:latin typeface="Segoe UI"/>
              </a:rPr>
              <a:t>Dependencias sólo hacia adentro: Api → Infrastructure → Application → Domain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171907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5120640"/>
            <a:ext cx="1719072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FRONTEND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React + Vite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Zustand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Tailwind CSS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Vitest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78024" y="5120640"/>
            <a:ext cx="171907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78024" y="5120640"/>
            <a:ext cx="1719072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15184" y="5230368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Segoe UI"/>
              </a:rPr>
              <a:t>BACKEND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.NET 10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ASP.NET Core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xUnit + Shouldly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Hexagonal + DDD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5120640"/>
            <a:ext cx="171907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15968" y="5120640"/>
            <a:ext cx="1719072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3128" y="5230368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Segoe UI"/>
              </a:rPr>
              <a:t>INFRAESTRUCTURA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MongoDB Atlas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Atlas Vector Search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Azure AI Foundry</a:t>
            </a:r>
          </a:p>
          <a:p>
            <a:pPr algn="l"/>
            <a:r>
              <a:rPr sz="900" b="0" i="0">
                <a:solidFill>
                  <a:srgbClr val="0F172A"/>
                </a:solidFill>
                <a:latin typeface="Segoe UI"/>
              </a:rPr>
              <a:t>Docker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00200"/>
            <a:ext cx="51206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0" y="185623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0">
                <a:solidFill>
                  <a:srgbClr val="2563EB"/>
                </a:solidFill>
                <a:latin typeface="Segoe UI Emoji"/>
              </a:rPr>
              <a:t>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1691640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Libertad tecnológica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Cambiar de LLM, base de datos o índice no toca el núcleo: es un cambio de configuración.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715768"/>
            <a:ext cx="51206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83680" y="29718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0">
                <a:solidFill>
                  <a:srgbClr val="2563EB"/>
                </a:solidFill>
                <a:latin typeface="Segoe UI Emoji"/>
              </a:rPr>
              <a:t>🏗️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807208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Calidad de nivel industrial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TDD, cobertura ≥95% y CI que bloquea regresiones: el prototipo no es un experimento frágil.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31336"/>
            <a:ext cx="51206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83680" y="408736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0">
                <a:solidFill>
                  <a:srgbClr val="2563EB"/>
                </a:solidFill>
                <a:latin typeface="Segoe UI Emoji"/>
              </a:rPr>
              <a:t>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922776"/>
            <a:ext cx="4069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Segoe UI Semibold"/>
              </a:rPr>
              <a:t>Abierto y verificable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Código MIT en GitHub con toda la arquitectura documentada: cualquiera puede auditarlo hoy.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983480"/>
            <a:ext cx="51206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F37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83680" y="511149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D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0">
                <a:solidFill>
                  <a:srgbClr val="F3702A"/>
                </a:solidFill>
                <a:latin typeface="Segoe UI Emoji"/>
              </a:rPr>
              <a:t>☀️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5056632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 Semibold"/>
              </a:rPr>
              <a:t>Calidad de código con SonarCloud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análisis continuo en cada cambio: bugs, vulnerabilidades, code smells y deuda técnica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843016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Emoji"/>
              </a:rPr>
              <a:t>🔗  </a:t>
            </a:r>
            <a:r>
              <a:rPr sz="1200" b="1">
                <a:solidFill>
                  <a:srgbClr val="93C5FD"/>
                </a:solidFill>
                <a:latin typeface="Consolas"/>
              </a:rPr>
              <a:t>github.com/jasonfabian8/JYDE.OpenDataCopilot</a:t>
            </a:r>
            <a:r>
              <a:rPr sz="1100" b="0">
                <a:solidFill>
                  <a:srgbClr val="FFFFFF"/>
                </a:solidFill>
                <a:latin typeface="Segoe UI"/>
              </a:rPr>
              <a:t>   · MIT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Segoe UI"/>
              </a:rPr>
              <a:t>ROADMAP · PRÓXIMAS EVOLUCIONES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egoe UI Semibold"/>
              </a:rPr>
              <a:t>De asistente inteligente a plataforma autoevolutiva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OpenData Copilot · ID 241 · Datos al Ecosistema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27632"/>
            <a:ext cx="1056132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47088" y="153619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90472" y="1874519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Segoe UI"/>
              </a:rPr>
              <a:t>FASE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04288"/>
            <a:ext cx="2606040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432304"/>
            <a:ext cx="227685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Segoe UI Emoji"/>
              </a:rPr>
              <a:t>👤 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Gestión de usuarios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roles, permisos y experiencia personalizada</a:t>
            </a:r>
          </a:p>
        </p:txBody>
      </p:sp>
      <p:sp>
        <p:nvSpPr>
          <p:cNvPr id="12" name="Oval 11"/>
          <p:cNvSpPr/>
          <p:nvPr/>
        </p:nvSpPr>
        <p:spPr>
          <a:xfrm>
            <a:off x="4590288" y="1536192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33672" y="1874519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00" b="1">
                <a:solidFill>
                  <a:srgbClr val="059669"/>
                </a:solidFill>
                <a:latin typeface="Segoe UI"/>
              </a:rPr>
              <a:t>FASE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304288"/>
            <a:ext cx="2606040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2432304"/>
            <a:ext cx="227685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Segoe UI Emoji"/>
              </a:rPr>
              <a:t>💬 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Gestión de sesiones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historial y memoria conversacional por usuario</a:t>
            </a:r>
          </a:p>
        </p:txBody>
      </p:sp>
      <p:sp>
        <p:nvSpPr>
          <p:cNvPr id="16" name="Oval 15"/>
          <p:cNvSpPr/>
          <p:nvPr/>
        </p:nvSpPr>
        <p:spPr>
          <a:xfrm>
            <a:off x="7333488" y="153619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76872" y="1874519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00" b="1">
                <a:solidFill>
                  <a:srgbClr val="D97706"/>
                </a:solidFill>
                <a:latin typeface="Segoe UI"/>
              </a:rPr>
              <a:t>FASE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304288"/>
            <a:ext cx="2606040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2432304"/>
            <a:ext cx="227685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Segoe UI Emoji"/>
              </a:rPr>
              <a:t>💰 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Gestión de tokens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cuotas, métricas de consumo y caché de contexto</a:t>
            </a:r>
          </a:p>
        </p:txBody>
      </p:sp>
      <p:sp>
        <p:nvSpPr>
          <p:cNvPr id="20" name="Oval 19"/>
          <p:cNvSpPr/>
          <p:nvPr/>
        </p:nvSpPr>
        <p:spPr>
          <a:xfrm>
            <a:off x="10076688" y="1536192"/>
            <a:ext cx="201168" cy="201168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20072" y="1874519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00" b="1">
                <a:solidFill>
                  <a:srgbClr val="1E40AF"/>
                </a:solidFill>
                <a:latin typeface="Segoe UI"/>
              </a:rPr>
              <a:t>FASE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2304288"/>
            <a:ext cx="2606040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34272" y="2432304"/>
            <a:ext cx="227685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Segoe UI Emoji"/>
              </a:rPr>
              <a:t>🤖  </a:t>
            </a:r>
            <a:r>
              <a:rPr sz="1200" b="1" i="0">
                <a:solidFill>
                  <a:srgbClr val="0F172A"/>
                </a:solidFill>
                <a:latin typeface="Segoe UI Semibold"/>
              </a:rPr>
              <a:t>Agente de autoaprendizaje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analiza la auditoría: insights, prompts y nuevos agentes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41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Segoe UI"/>
              </a:rPr>
              <a:t>CICLO AUTOEVOLUTIVO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70832"/>
            <a:ext cx="1664208" cy="566928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👥 Usuarios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329544" y="4581144"/>
            <a:ext cx="173736" cy="146304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503280" y="4370832"/>
            <a:ext cx="144301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💬 Conversaciones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014650" y="4581144"/>
            <a:ext cx="173736" cy="146304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195354" y="4370832"/>
            <a:ext cx="166420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📜 Auditoría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852160" y="4581144"/>
            <a:ext cx="173736" cy="146304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025896" y="4370832"/>
            <a:ext cx="162763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🧠 Agente de insights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635240" y="4581144"/>
            <a:ext cx="173736" cy="146304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819862" y="4370832"/>
            <a:ext cx="161674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50" b="1" dirty="0">
                <a:solidFill>
                  <a:srgbClr val="0F172A"/>
                </a:solidFill>
                <a:latin typeface="Segoe UI"/>
              </a:rPr>
              <a:t>⚙️ </a:t>
            </a:r>
            <a:r>
              <a:rPr sz="950" b="1" dirty="0" err="1">
                <a:solidFill>
                  <a:srgbClr val="0F172A"/>
                </a:solidFill>
                <a:latin typeface="Segoe UI"/>
              </a:rPr>
              <a:t>Optimiza</a:t>
            </a:r>
            <a:r>
              <a:rPr sz="95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950" b="1" dirty="0" err="1">
                <a:solidFill>
                  <a:srgbClr val="0F172A"/>
                </a:solidFill>
                <a:latin typeface="Segoe UI"/>
              </a:rPr>
              <a:t>agentes</a:t>
            </a:r>
            <a:r>
              <a:rPr sz="950" b="1" dirty="0">
                <a:solidFill>
                  <a:srgbClr val="0F172A"/>
                </a:solidFill>
                <a:latin typeface="Segoe UI"/>
              </a:rPr>
              <a:t> y RAG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418320" y="4581144"/>
            <a:ext cx="173736" cy="146304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602942" y="4370832"/>
            <a:ext cx="1616746" cy="566928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950" b="1" dirty="0">
                <a:solidFill>
                  <a:srgbClr val="0F172A"/>
                </a:solidFill>
                <a:latin typeface="Segoe UI"/>
              </a:rPr>
              <a:t>🏷️ Nueva </a:t>
            </a:r>
            <a:r>
              <a:rPr sz="950" b="1" dirty="0" err="1">
                <a:solidFill>
                  <a:srgbClr val="0F172A"/>
                </a:solidFill>
                <a:latin typeface="Segoe UI"/>
              </a:rPr>
              <a:t>versión</a:t>
            </a:r>
            <a:endParaRPr sz="950" b="1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472184" y="5056632"/>
            <a:ext cx="8915400" cy="25603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472184" y="4956048"/>
            <a:ext cx="25603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360152" y="4956048"/>
            <a:ext cx="25603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Left Arrow 38"/>
          <p:cNvSpPr/>
          <p:nvPr/>
        </p:nvSpPr>
        <p:spPr>
          <a:xfrm>
            <a:off x="5773782" y="4994366"/>
            <a:ext cx="256032" cy="164592"/>
          </a:xfrm>
          <a:prstGeom prst="lef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080" y="5349240"/>
            <a:ext cx="1056132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FCD34D"/>
                </a:solidFill>
                <a:latin typeface="Segoe UI"/>
              </a:rPr>
              <a:t>Visión: </a:t>
            </a:r>
            <a:r>
              <a:rPr sz="1300" b="0">
                <a:solidFill>
                  <a:srgbClr val="FFFFFF"/>
                </a:solidFill>
                <a:latin typeface="Segoe UI"/>
              </a:rPr>
              <a:t>una plataforma agéntica autoevolutiva, gobernada por IA, que aprende del uso, optimiza su desempeño y escala de forma segura para un mayor impacto nacional.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2011680"/>
            <a:ext cx="5029200" cy="50292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Segoe UI"/>
              </a:rPr>
              <a:t>POR QUÉ ESTE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Segoe UI Semibold"/>
              </a:rPr>
              <a:t>De 8.000 datasets a una sola pregunta.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0392" y="21122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2563EB"/>
                </a:solidFill>
                <a:latin typeface="Segoe UI Emoj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24328"/>
            <a:ext cx="22585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Innovación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Multiagente + RAG citado: no un chatbot, un copiloto con evidencia.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965960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75304" y="21122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2563EB"/>
                </a:solidFill>
                <a:latin typeface="Segoe UI Emoji"/>
              </a:rPr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624328"/>
            <a:ext cx="22585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IA responsable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Guardrails explícitos: sin fuente no hay respuesta, nunca inventa cifras.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965960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0216" y="21122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2563EB"/>
                </a:solidFill>
                <a:latin typeface="Segoe UI Emoji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624328"/>
            <a:ext cx="22585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Datos abiertos de verdad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100% sobre la API oficial de datos.gov.co, trazable y reproducible.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0536" y="1965960"/>
            <a:ext cx="258775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25128" y="21122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0">
                <a:solidFill>
                  <a:srgbClr val="2563EB"/>
                </a:solidFill>
                <a:latin typeface="Segoe UI Emoji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2624328"/>
            <a:ext cx="22585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 Semibold"/>
              </a:rPr>
              <a:t>Escalable y sostenible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Hexagonal, stateless y de bajo costo: lista para nivel nacional.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16052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0" name="Picture 19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4315968"/>
            <a:ext cx="1463040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61120" y="5833872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Escanea el repositorio</a:t>
            </a:r>
          </a:p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github.com/jasonfabian8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4340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Segoe UI Semibold"/>
              </a:rPr>
              <a:t>Los datos abiertos ya existen. Nosotros los hacemos hablar.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206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OpenData Copilot convierte la transparencia en conversación: información pública, comprensible y verificable para cada colombiano.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60807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ID 241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608076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Segoe UI"/>
              </a:rPr>
              <a:t>NIVEL AVANZADO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608076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1E40AF"/>
                </a:solidFill>
                <a:latin typeface="Segoe UI"/>
              </a:rPr>
              <a:t>DATOS AL ECOSISTEMA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61264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1644</Words>
  <Application>Microsoft Office PowerPoint</Application>
  <PresentationFormat>Panorámica</PresentationFormat>
  <Paragraphs>309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Segoe UI Emoji</vt:lpstr>
      <vt:lpstr>Segoe UI Light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Daniela</dc:creator>
  <cp:keywords/>
  <dc:description>generated using python-pptx</dc:description>
  <cp:lastModifiedBy>Helen Daniela Benitez Hipolito</cp:lastModifiedBy>
  <cp:revision>1</cp:revision>
  <dcterms:created xsi:type="dcterms:W3CDTF">2013-01-27T09:14:16Z</dcterms:created>
  <dcterms:modified xsi:type="dcterms:W3CDTF">2026-07-11T20:24:42Z</dcterms:modified>
  <cp:category/>
</cp:coreProperties>
</file>